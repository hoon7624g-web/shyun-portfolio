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AX · AI 활용 교육 강의안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02575" y="658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Curriculum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0728655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40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 · 90분 강의안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기반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영상·콘텐츠 자동화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설계.</a:t>
            </a:r>
            <a:endParaRPr lang="en-US" sz="6400" dirty="0"/>
          </a:p>
        </p:txBody>
      </p:sp>
      <p:sp>
        <p:nvSpPr>
          <p:cNvPr id="9" name="Shape 7"/>
          <p:cNvSpPr/>
          <p:nvPr/>
        </p:nvSpPr>
        <p:spPr>
          <a:xfrm>
            <a:off x="731520" y="5897880"/>
            <a:ext cx="10728655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윤상훈 · Sanghoon Yoon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· 비개발 실무자 / 팀리더    레벨 · AX·AI 활용 중급    포맷 · 강의 + 워크숍 90분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02575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LEARNING 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강의가 끝나면, 수강생은…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2148840"/>
            <a:ext cx="33933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339333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파이프라인을</a:t>
            </a:r>
            <a:endParaRPr lang="en-US" sz="2000" dirty="0"/>
          </a:p>
          <a:p>
            <a:pPr indent="0" marL="0">
              <a:buNone/>
            </a:pPr>
            <a:r>
              <a:rPr lang="en-US" sz="20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그림으로 그릴 수 있다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3573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434840"/>
            <a:ext cx="339333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LLM이 아니라, 여러 모델·도구가 단계별로 협업하는 워크플로 구조를 자기 업무 맥락에 맞춰 종이에 그릴 수 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99178" y="2148840"/>
            <a:ext cx="33933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399178" y="2971800"/>
            <a:ext cx="339333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"어디에 사람을 남길지"</a:t>
            </a:r>
            <a:endParaRPr lang="en-US" sz="2000" dirty="0"/>
          </a:p>
          <a:p>
            <a:pPr indent="0" marL="0">
              <a:buNone/>
            </a:pPr>
            <a:r>
              <a:rPr lang="en-US" sz="20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판단할 수 있다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399178" y="4297680"/>
            <a:ext cx="13573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99178" y="4434840"/>
            <a:ext cx="339333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Human-in-the-loop의 의미를 이해하고, 자동화와 사람 판단의 경계를 자기 조직 기준으로 설계할 수 있다.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66837" y="2148840"/>
            <a:ext cx="33933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066837" y="2971800"/>
            <a:ext cx="339333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ROI를</a:t>
            </a:r>
            <a:endParaRPr lang="en-US" sz="2000" dirty="0"/>
          </a:p>
          <a:p>
            <a:pPr indent="0" marL="0">
              <a:buNone/>
            </a:pPr>
            <a:r>
              <a:rPr lang="en-US" sz="20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추정할 수 있다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066837" y="4297680"/>
            <a:ext cx="13573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6837" y="4434840"/>
            <a:ext cx="339333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비용·인건비·운영 리스크를 포함한 도입 타당성 프레임에 따라, 자기 팀의 도입 우선순위를 거칠게 판단하고 설명할 수 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 · 90 MIN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흐름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BLOCKS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468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 →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 →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Decisions →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 →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Wrap-up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0" y="1965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1965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지금, 이 주제인가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45775" y="19659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0" y="2651760"/>
            <a:ext cx="6156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743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0392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설계 이해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45775" y="2743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0" y="3429000"/>
            <a:ext cx="6156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520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80760" y="3520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Decisions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03920" y="3520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운영에서 내린 판단들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45775" y="3520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0" y="4206240"/>
            <a:ext cx="6156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4297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80760" y="4297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03920" y="4297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업무 적용 설계 실습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45775" y="4297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min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03520" y="4983480"/>
            <a:ext cx="6156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5074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8076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Wrap-up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503920" y="5074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 · 도입 체크리스트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545775" y="5074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109728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-1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많은 조직은 </a:t>
            </a:r>
            <a:pPr algn="ctr" indent="0" marL="0">
              <a:buNone/>
            </a:pPr>
            <a:r>
              <a:rPr lang="en-US" sz="3200" b="1" spc="-150" kern="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"AI를 쓸 줄 아는 것"</a:t>
            </a:r>
            <a:pPr algn="ctr" indent="0" marL="0">
              <a:buNone/>
            </a:pPr>
            <a:r>
              <a:rPr lang="en-US" sz="3200" b="1" spc="-1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막히지 않습니다.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-15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"기존 업무 흐름 안에 끼워 넣는 것"</a:t>
            </a:r>
            <a:pPr algn="ctr" indent="0" marL="0">
              <a:buNone/>
            </a:pPr>
            <a:r>
              <a:rPr lang="en-US" sz="3200" b="1" spc="-1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막힙니다</a:t>
            </a:r>
            <a:pPr algn="ctr" indent="0" marL="0">
              <a:buNone/>
            </a:pPr>
            <a:r>
              <a:rPr lang="en-US" sz="3200" b="1" spc="-15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724248" y="5212080"/>
            <a:ext cx="2743200" cy="0"/>
          </a:xfrm>
          <a:prstGeom prst="line">
            <a:avLst/>
          </a:prstGeom>
          <a:noFill/>
          <a:ln w="12700">
            <a:solidFill>
              <a:srgbClr val="CBD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4406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강의는 툴 소개보다, 업무 안으로 들어가는 설계 방식에 집중합니다.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8978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· 편당 1시간+ 수작업이 5분 자동화 파이프라인으로 단축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4577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목적의 결과물, 12배 빠른 워크플로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1014984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95848" y="2057400"/>
            <a:ext cx="0" cy="37947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 · 수작업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4688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trike="sngStrike" spc="-25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60+ min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731520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리서치  ·  브라우저 탭 20개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4714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 작성  ·  한글 톤 직접 다듬기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782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음성 녹음  ·  NG 반복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0932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B-roll 영상 검색  ·  수동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4041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타이밍 수동 조정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 ·  렌더링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53048" y="2057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 · 파이프라인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53048" y="24688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-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min</a:t>
            </a:r>
            <a:endParaRPr lang="en-US" sz="8000" dirty="0"/>
          </a:p>
        </p:txBody>
      </p:sp>
      <p:sp>
        <p:nvSpPr>
          <p:cNvPr id="26" name="Text 24"/>
          <p:cNvSpPr/>
          <p:nvPr/>
        </p:nvSpPr>
        <p:spPr>
          <a:xfrm>
            <a:off x="6553048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편당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53048" y="4160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입력</a:t>
            </a:r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→  Perplexity</a:t>
            </a:r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자동 리서치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53048" y="44714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Claude·GPT</a:t>
            </a:r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병렬 스크립트 + 톤 분리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53048" y="47823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ElevenLabs / Google TTS</a:t>
            </a:r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음성 합성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53048" y="50932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Pexels·Storyblocks</a:t>
            </a:r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키워드 자동 매칭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53048" y="54041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자동 정렬</a:t>
            </a:r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+ 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1회 검수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53048" y="5715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Remotion</a:t>
            </a:r>
            <a:pPr indent="0" marL="0"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자동 렌더링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6144768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조건 · 최근 30편 운영 기준 · 사람 1회 검수 포함 · 5분 내외 정보형 영상 포맷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다룰 범위, 다루지 않을 범위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1014984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057400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 · 오늘 다룰 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468880"/>
            <a:ext cx="4998568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6517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651760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설계 사고법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944368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LLM 사용을 넘어, 도구·모델을 어떻게 엮는가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3649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3364992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모델별 역할 분담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657600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단계에 어떤 모델·도구를 배치할지에 대한 기준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078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078224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Human-in-the-loop 판단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370832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지점에 사람을 남길 것인가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79145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4791456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ROI · 도입 타당성 프레임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5084064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비용·시간·리스크 기반 우선순위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5504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3000" y="5504688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사례 1편 분해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5797296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에듀테크 영상 자동화 앱 운영 데이터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61608" y="2057400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 · 오늘 다루지 않는 것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61608" y="2468880"/>
            <a:ext cx="4998568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1608" y="26517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73088" y="2651760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엔지니어링 디테일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73088" y="2944368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강의 트랙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61608" y="33649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73088" y="3364992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모델 API 코드 작성법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73088" y="3657600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강의에서 다룸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61608" y="4078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73088" y="4078224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학습·파인튜닝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73088" y="4370832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강의 범위 밖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61608" y="479145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73088" y="4791456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편집 도구 사용법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73088" y="5084064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Premiere · Final Cut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61608" y="55046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73088" y="5504688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SEO·유통 전략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73088" y="5797296"/>
            <a:ext cx="4587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마케팅 트랙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장으로 보는 파이프라인 · 6단계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1046988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10698480" cy="3657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463040" y="3520440"/>
            <a:ext cx="182880" cy="18288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645920"/>
            <a:ext cx="1645920" cy="18288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2286000"/>
            <a:ext cx="457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3591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Research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Perplexity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자료 탐색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520440"/>
            <a:ext cx="182880" cy="18288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1645920"/>
            <a:ext cx="1645920" cy="18288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743200" y="2286000"/>
            <a:ext cx="457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23591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Script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74320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/ GPT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+ 톤 분리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20640" y="3520440"/>
            <a:ext cx="182880" cy="18288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1645920"/>
            <a:ext cx="1645920" cy="18288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572000" y="2286000"/>
            <a:ext cx="457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3591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Voice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7200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ElevenLabs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 TTS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49440" y="3520440"/>
            <a:ext cx="182880" cy="18288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1645920"/>
            <a:ext cx="1645920" cy="18288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400800" y="2286000"/>
            <a:ext cx="457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23591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Footage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0080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Pexels / Storyblocks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매칭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778240" y="3520440"/>
            <a:ext cx="182880" cy="18288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46720" y="1645920"/>
            <a:ext cx="1645920" cy="18288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229600" y="2286000"/>
            <a:ext cx="457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23591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Compose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22960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Remotion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+ 컷 정렬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607040" y="3520440"/>
            <a:ext cx="182880" cy="18288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75520" y="1645920"/>
            <a:ext cx="1645920" cy="18288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0058400" y="2286000"/>
            <a:ext cx="457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0" y="23591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0058400" y="27432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1회 검수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Human-in-the-loop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0744200" y="1481328"/>
            <a:ext cx="77724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10744200" y="148132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· 데이터 흐름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88175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자동화 6단계  ·  HITL 1단계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1520" y="45720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자동화의 핵심은 모든 단계를 기계에 맡기는 것이 아니라, 어느 단계에 사람을 남겨야 품질이 안정되는지 먼저 정하는 것입니다.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도구·역할 매핑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1046988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040880" y="2057400"/>
            <a:ext cx="4389120" cy="37033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148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148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2148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69480" y="21488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모드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2697480"/>
            <a:ext cx="10698480" cy="0"/>
          </a:xfrm>
          <a:prstGeom prst="line">
            <a:avLst/>
          </a:prstGeom>
          <a:noFill/>
          <a:ln w="25400">
            <a:solidFill>
              <a:srgbClr val="191A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81635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Research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011680" y="28163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Perplexity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840480" y="281635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키워드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281635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 출처+요약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69480" y="28163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구식·왜곡 정보 인용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3337560"/>
            <a:ext cx="10698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3649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Script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011680" y="336499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· GPT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840480" y="336499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리서치+톤가이드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336499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스크립트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69480" y="336499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톤 어색 · 사실 오류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3886200"/>
            <a:ext cx="10698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91363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Voice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011680" y="39136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ElevenLabs · Google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840480" y="39136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스크립트+화자ID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0" y="39136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WAV/MP3 음성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69480" y="39136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발음 오류 · 부자연 끊김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" y="4434840"/>
            <a:ext cx="10698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46227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Footage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011680" y="446227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Pexels · Storyblocks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840480" y="446227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0" y="446227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B-roll 클립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69480" y="44622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불일치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31520" y="4983480"/>
            <a:ext cx="10698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01091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2011680" y="501091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Remotion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840480" y="50109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음성+영상+스크립트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0" y="50109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MP4 결과물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269480" y="501091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자막-음성 싱크 어긋남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31520" y="5532120"/>
            <a:ext cx="10698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555955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2011680" y="55595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사람 (HITL)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3840480" y="555955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0" y="555955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/ 재작업 신호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269480" y="55595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누락 → 사고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31520" y="624535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→ </a:t>
            </a:r>
            <a:pPr indent="0" marL="0">
              <a:buNone/>
            </a:pPr>
            <a:r>
              <a:rPr lang="en-US" sz="1050" b="1" i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표의 핵심은 도구 목록이 아니라, 실패가 나는 위치를 먼저 보는 것입니다.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프로젝트에서 어떻게 모델을 배치했는가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1046988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1031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절대 우열이 아닌, 이 프로젝트 운영 당시 기준으로 단계별 강점에 맞춰 배치한 결과입니다.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3393338" cy="0"/>
          </a:xfrm>
          <a:prstGeom prst="line">
            <a:avLst/>
          </a:prstGeom>
          <a:noFill/>
          <a:ln w="25400">
            <a:solidFill>
              <a:srgbClr val="191A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697480"/>
            <a:ext cx="33933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" y="333756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74904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운영 기준 강점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402336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023360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한국어 톤 균질성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352544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352544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구조적 사고·논리적 글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4681728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681728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안전한 reasoning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516636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운영 기준 한계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5422392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5422392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당시 운영 기준, 검색·최신성은 별도 시스템 사용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6080760"/>
            <a:ext cx="135733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172200"/>
            <a:ext cx="33933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파이프라인 역할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6419088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Script · 톤 다듬기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99178" y="2560320"/>
            <a:ext cx="3393338" cy="0"/>
          </a:xfrm>
          <a:prstGeom prst="line">
            <a:avLst/>
          </a:prstGeom>
          <a:noFill/>
          <a:ln w="25400">
            <a:solidFill>
              <a:srgbClr val="191A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99178" y="2697480"/>
            <a:ext cx="33933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399178" y="333756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99178" y="374904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운영 기준 강점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99178" y="402336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73498" y="4023360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 출력 · JSON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399178" y="4352544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73498" y="4352544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 use · 함수 호출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399178" y="4681728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673498" y="4681728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광범위 지식 기본기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399178" y="516636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운영 기준 한계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399178" y="5422392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673498" y="5422392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일관성 관리가 상대적으로 까다로움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399178" y="6080760"/>
            <a:ext cx="135733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99178" y="6172200"/>
            <a:ext cx="33933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파이프라인 역할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399178" y="6419088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· 오케스트레이션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066837" y="2560320"/>
            <a:ext cx="3393338" cy="0"/>
          </a:xfrm>
          <a:prstGeom prst="line">
            <a:avLst/>
          </a:prstGeom>
          <a:noFill/>
          <a:ln w="25400">
            <a:solidFill>
              <a:srgbClr val="191A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66837" y="2697480"/>
            <a:ext cx="33933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8066837" y="333756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66837" y="374904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운영 기준 강점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66837" y="402336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341157" y="4023360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멀티모달 · 영상/이미지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066837" y="4352544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341157" y="4352544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 모델 1M 컨텍스트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066837" y="4681728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341157" y="4681728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정보 액세스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8066837" y="516636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운영 기준 한계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66837" y="5422392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341157" y="5422392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일관된 톤은 단계별 검수가 안전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066837" y="6080760"/>
            <a:ext cx="135733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66837" y="6172200"/>
            <a:ext cx="33933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파이프라인 역할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066837" y="6419088"/>
            <a:ext cx="3393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Footage · 영상 분석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완전 자동화를 피했는가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1488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Human-in-the-loop는 사람이 게을러서 남는 단계가 아니라, 리스크가 커지는 지점에 의도적으로 배치하는 통제 장치입니다.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971800"/>
            <a:ext cx="54864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0040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611880"/>
            <a:ext cx="33323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결정의 가역성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4343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되돌리기 어려운 결정 앞에는 사람을 둡니다. 잘못된 자막 한 줄은 영상 재발행으로 끝나지 않고, 플랫폼 신뢰도와 광고 수익까지 영향이 갑니다.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6080760"/>
            <a:ext cx="333237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172200"/>
            <a:ext cx="33323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발행 전 1회 검수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29658" y="2971800"/>
            <a:ext cx="54864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429658" y="320040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29658" y="3611880"/>
            <a:ext cx="33323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책임의 귀속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429658" y="4343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사고가 났을 때 "AI가 했습니다"는 답이 안 됩니다. 모델 출력에 책임지는 주체가 누구인지, 워크플로 안에서 명시적 사람 단계로 못 박습니다.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29658" y="6080760"/>
            <a:ext cx="333237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29658" y="6172200"/>
            <a:ext cx="33323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= 검수자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27797" y="2971800"/>
            <a:ext cx="54864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8127797" y="320040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7797" y="3611880"/>
            <a:ext cx="33323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품질의 비대칭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127797" y="4343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품질이 95%여도 5% 실패가 치명적이면 자동화 대상이 아닙니다. 팩트체크·민감 표현 검수처럼 분포 꼬리에 비용이 큰 작업은 사람을 남깁니다.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27797" y="6080760"/>
            <a:ext cx="333237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27797" y="6172200"/>
            <a:ext cx="33323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꼬리 리스크 차단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안에 무엇이 일어나는가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1488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편당 5분 = 자동화 처리 약 4분 + 발행 전 확인 약 1분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51460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아래 50초는 편당 최종 확인 시간이며, 월간 운영 오버헤드는 별도로 존재합니다.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154680"/>
            <a:ext cx="0" cy="91440"/>
          </a:xfrm>
          <a:prstGeom prst="line">
            <a:avLst/>
          </a:prstGeom>
          <a:noFill/>
          <a:ln w="6350">
            <a:solidFill>
              <a:srgbClr val="B5B9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71216" y="3154680"/>
            <a:ext cx="0" cy="91440"/>
          </a:xfrm>
          <a:prstGeom prst="line">
            <a:avLst/>
          </a:prstGeom>
          <a:noFill/>
          <a:ln w="6350">
            <a:solidFill>
              <a:srgbClr val="B5B9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96896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10912" y="3154680"/>
            <a:ext cx="0" cy="91440"/>
          </a:xfrm>
          <a:prstGeom prst="line">
            <a:avLst/>
          </a:prstGeom>
          <a:noFill/>
          <a:ln w="6350">
            <a:solidFill>
              <a:srgbClr val="B5B9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50608" y="3154680"/>
            <a:ext cx="0" cy="91440"/>
          </a:xfrm>
          <a:prstGeom prst="line">
            <a:avLst/>
          </a:prstGeom>
          <a:noFill/>
          <a:ln w="6350">
            <a:solidFill>
              <a:srgbClr val="B5B9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290304" y="3154680"/>
            <a:ext cx="0" cy="91440"/>
          </a:xfrm>
          <a:prstGeom prst="line">
            <a:avLst/>
          </a:prstGeom>
          <a:noFill/>
          <a:ln w="6350">
            <a:solidFill>
              <a:srgbClr val="B5B9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15984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1430000" y="315468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0" y="28803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3291840"/>
            <a:ext cx="1248156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291840"/>
            <a:ext cx="1248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979676" y="3291840"/>
            <a:ext cx="2139696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1979676" y="32918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9372" y="3291840"/>
            <a:ext cx="178308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4119372" y="3291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02452" y="3291840"/>
            <a:ext cx="1069848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5902452" y="3291840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72300" y="3291840"/>
            <a:ext cx="267462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972300" y="3291840"/>
            <a:ext cx="26746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46920" y="3154680"/>
            <a:ext cx="1783080" cy="7315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9646920" y="31546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355598" y="3794760"/>
            <a:ext cx="0" cy="228600"/>
          </a:xfrm>
          <a:prstGeom prst="line">
            <a:avLst/>
          </a:prstGeom>
          <a:noFill/>
          <a:ln w="6350">
            <a:solidFill>
              <a:srgbClr val="CBD0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5518" y="4114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Research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8358" y="4407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Perplexity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049524" y="3794760"/>
            <a:ext cx="0" cy="228600"/>
          </a:xfrm>
          <a:prstGeom prst="line">
            <a:avLst/>
          </a:prstGeom>
          <a:noFill/>
          <a:ln w="6350">
            <a:solidFill>
              <a:srgbClr val="CBD0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09444" y="4114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Script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272284" y="4407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· GPT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10912" y="3794760"/>
            <a:ext cx="0" cy="228600"/>
          </a:xfrm>
          <a:prstGeom prst="line">
            <a:avLst/>
          </a:prstGeom>
          <a:noFill/>
          <a:ln w="6350">
            <a:solidFill>
              <a:srgbClr val="CBD0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70832" y="4114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Voice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233672" y="4407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ElevenLabs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37376" y="3794760"/>
            <a:ext cx="0" cy="228600"/>
          </a:xfrm>
          <a:prstGeom prst="line">
            <a:avLst/>
          </a:prstGeom>
          <a:noFill/>
          <a:ln w="6350">
            <a:solidFill>
              <a:srgbClr val="CBD0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97296" y="4114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Footage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60136" y="4407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Pexels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309610" y="3794760"/>
            <a:ext cx="0" cy="228600"/>
          </a:xfrm>
          <a:prstGeom prst="line">
            <a:avLst/>
          </a:prstGeom>
          <a:noFill/>
          <a:ln w="6350">
            <a:solidFill>
              <a:srgbClr val="CBD0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69530" y="4114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532370" y="4407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538460" y="3794760"/>
            <a:ext cx="0" cy="228600"/>
          </a:xfrm>
          <a:prstGeom prst="line">
            <a:avLst/>
          </a:prstGeom>
          <a:noFill/>
          <a:ln w="6350">
            <a:solidFill>
              <a:srgbClr val="CBD0D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98380" y="4114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761220" y="4407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· HITL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31520" y="5486400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562356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-3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AI 자동화 </a:t>
            </a:r>
            <a:pPr algn="ctr" indent="0" marL="0">
              <a:buNone/>
            </a:pPr>
            <a:r>
              <a:rPr lang="en-US" sz="16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250초  </a:t>
            </a:r>
            <a:pPr algn="ctr" indent="0" marL="0">
              <a:buNone/>
            </a:pPr>
            <a:r>
              <a:rPr lang="en-US" sz="1600" spc="-3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+  </a:t>
            </a:r>
            <a:pPr algn="ctr" indent="0" marL="0">
              <a:buNone/>
            </a:pPr>
            <a:r>
              <a:rPr lang="en-US" sz="16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편당 최종 확인 </a:t>
            </a:r>
            <a:pPr algn="ctr" indent="0" marL="0">
              <a:buNone/>
            </a:pPr>
            <a:r>
              <a:rPr lang="en-US" sz="16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50초  </a:t>
            </a:r>
            <a:pPr algn="ctr" indent="0" marL="0">
              <a:buNone/>
            </a:pPr>
            <a:r>
              <a:rPr lang="en-US" sz="1600" spc="-3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=  </a:t>
            </a:r>
            <a:pPr algn="ctr" indent="0" marL="0">
              <a:buNone/>
            </a:pPr>
            <a:r>
              <a:rPr lang="en-US" sz="1600" b="1" spc="-3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300초 ≈ 5분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품질이 무너지는 지점 3곳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1488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도입은 "잘 되는 곳"보다 "반복적으로 무너지는 곳"을 먼저 보는 게 더 중요합니다.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Script 단계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2788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무너지는 지점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30358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그럴듯한 거짓을 자신감 있게 작성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35021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데이터 컷오프 + 한국 맥락 약점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80960" y="2788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3035808"/>
            <a:ext cx="37792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Perplexity 팩트체크를 Script 직후 독립 단계로 분리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023360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160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Footage 단계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49040" y="4114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무너지는 지점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49040" y="43616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영상이 텍스트와 맥락 안 맞음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48280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키워드만 매칭 · 영상의 실제 내용 무관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680960" y="4114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80960" y="4361688"/>
            <a:ext cx="37792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Gemini로 영상 사후 검증 + 운영자 빠른 시각 확인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20" y="5349240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486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71600" y="5486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Compose 단계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749040" y="5440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무너지는 지점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49040" y="56875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자막-음성 싱크가 0.5초씩 밀림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49040" y="61539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TTS 발화 길이가 예측치와 다름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5715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680960" y="5440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80960" y="5687568"/>
            <a:ext cx="37792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실제 오디오 길이 기반으로 자막 타이밍 재계산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팩트체크는 왜 별도 모듈인가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2148840"/>
            <a:ext cx="5135728" cy="36576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2514600"/>
            <a:ext cx="422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  흔한 패턴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926080"/>
            <a:ext cx="422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모델에 검증까지 맡기기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703320"/>
            <a:ext cx="42213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  ↓
</a:t>
            </a:r>
            <a:pPr algn="l"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스크립트의 사실관계도 검토해줘"
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↓
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같은 모델이 자기 출력 검증
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↓
</a:t>
            </a:r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편향이 그대로 통과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24448" y="2148840"/>
            <a:ext cx="5135728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1648" y="2514600"/>
            <a:ext cx="422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  실제 적용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81648" y="2926080"/>
            <a:ext cx="422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서로 다른 시스템으로 분리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81648" y="3703320"/>
            <a:ext cx="42213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9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/ GPT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  ↓
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 생성
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↓
</a:t>
            </a:r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Perplexity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(실시간 검색 기반)
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↓
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독립적으로 사실관계 재검증
</a:t>
            </a:r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↓
</a:t>
            </a:r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편향 리스크 감소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생성과 검증을 분리하면, 동일 모델의 편향이 그대로 통과할 가능성을 낮출 수 있습니다. 다만 검색 기반 검증도 최종 판정이 아니라, 사람 검토와 함께 쓰는 보조 장치로 보는 편이 안전합니다.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vs 가치 · 자동화 우선순위 매트릭스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3794760"/>
            <a:ext cx="3429000" cy="17373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2057400"/>
            <a:ext cx="0" cy="3474720"/>
          </a:xfrm>
          <a:prstGeom prst="line">
            <a:avLst/>
          </a:prstGeom>
          <a:noFill/>
          <a:ln w="25400">
            <a:solidFill>
              <a:srgbClr val="CBD0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3794760"/>
            <a:ext cx="6858000" cy="0"/>
          </a:xfrm>
          <a:prstGeom prst="line">
            <a:avLst/>
          </a:prstGeom>
          <a:noFill/>
          <a:ln w="25400">
            <a:solidFill>
              <a:srgbClr val="CBD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331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가치 / 높은 비용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2697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보류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83480" y="2331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가치 / 높은 비용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697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선별적 + HITL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가치 / 낮은 비용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54480" y="44348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후순위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가치 / 낮은 비용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44348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자동화 · Quick Win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 rot="-5400000">
            <a:off x="73152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2103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5212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80160" y="56235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가치 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80160" y="58978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낮음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58978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86800" y="205740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예시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686800" y="2423160"/>
            <a:ext cx="13866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269748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마케팅 카피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686800" y="297180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즉시 자동화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0" y="333756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법무 검토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686800" y="361188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HITL 필수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686800" y="397764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 응대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686800" y="425196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선별 자동화 + 사람 이관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686800" y="461772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회의록 자동 정리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686800" y="489204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후순위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686800" y="525780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맞춤형 영상 1편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686800" y="5532120"/>
            <a:ext cx="2773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비용 vs 효과 검토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ROI · 1차 추정 예시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2148840"/>
            <a:ext cx="10728655" cy="13716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331720"/>
            <a:ext cx="101800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-3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ROI </a:t>
            </a:r>
            <a:pPr algn="ctr" indent="0" marL="0">
              <a:buNone/>
            </a:pPr>
            <a:r>
              <a:rPr lang="en-US" sz="1900" spc="-3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= </a:t>
            </a:r>
            <a:pPr algn="ctr" indent="0" marL="0">
              <a:buNone/>
            </a:pPr>
            <a:r>
              <a:rPr lang="en-US" sz="1900" b="1" spc="-3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(절감 시간 × 인건비)</a:t>
            </a:r>
            <a:pPr algn="ctr" indent="0" marL="0">
              <a:buNone/>
            </a:pPr>
            <a:r>
              <a:rPr lang="en-US" sz="1900" b="1" spc="-3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  −   </a:t>
            </a:r>
            <a:pPr algn="ctr" indent="0" marL="0">
              <a:buNone/>
            </a:pPr>
            <a:r>
              <a:rPr lang="en-US" sz="1900" spc="-30" kern="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(API + 운영 오버헤드 + 사고 기댓값)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31520" y="361188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많은 조직이 절감 시간만 먼저 봅니다. 실제 도입 판단에서는 운영 오버헤드와 실패 비용까지 함께 봐야 숫자가 맞습니다.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워크드 예시 · 영상 콘텐츠 팀 (월 20편 제작)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526280"/>
            <a:ext cx="107286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63440"/>
            <a:ext cx="14233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절감 시간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+ 18.3시간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5321808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20편 × 55분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92035" y="4663440"/>
            <a:ext cx="14233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인건비 단가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92035" y="4937760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 5만원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92035" y="5321808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시간당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52550" y="4663440"/>
            <a:ext cx="14233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비용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52550" y="4937760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− 12만원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852550" y="5321808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5개 LLM 합산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13065" y="4663440"/>
            <a:ext cx="14233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오버헤드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13065" y="4937760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− 25만원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13065" y="5321808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예외 처리·재작업 5hr/월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73580" y="4663440"/>
            <a:ext cx="14233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사고 기댓값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73580" y="4937760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− 5만원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73580" y="5321808"/>
            <a:ext cx="14233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재발행 비용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45375" y="5029200"/>
            <a:ext cx="41148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45375" y="51206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NET (월)   </a:t>
            </a:r>
            <a:pPr algn="r" indent="0" marL="0">
              <a:buNone/>
            </a:pPr>
            <a:r>
              <a:rPr lang="en-US" sz="2600" b="1" spc="-5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+ 49.5만원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6080760"/>
            <a:ext cx="10728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 가정 · API: 5개 LLM 평균치  /  운영 오버헤드: 시간당 5만원 × 5시간  /  사고: 재발행 1건/2개월. 편당 최종 확인은 별개로, 월간 예외 처리·재작업을 운영 오버헤드에 포함했습니다.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1645920"/>
            <a:ext cx="609584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0" b="1" spc="-10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230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6095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6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548640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업무에 적용할 파이프라인 1개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85216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답이 아닌 사고 과정을 평가합니다.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53048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53048" y="1143000"/>
            <a:ext cx="5181448" cy="0"/>
          </a:xfrm>
          <a:prstGeom prst="line">
            <a:avLst/>
          </a:prstGeom>
          <a:noFill/>
          <a:ln w="25400">
            <a:solidFill>
              <a:srgbClr val="191A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3048" y="1417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93128" y="1371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업무 1개 선정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93128" y="17556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5회+ 반복 · 30분+ 작업 · 결과물 형식 정해진 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820095" y="1417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53048" y="2194560"/>
            <a:ext cx="518144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3048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93128" y="2286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분해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93128" y="26700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어떤 순서·도구·결과물? 5~7단계로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820095" y="2331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53048" y="3108960"/>
            <a:ext cx="518144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3048" y="3246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93128" y="3200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도구·모델 매핑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93128" y="3584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단계에 어떤 LLM/도구. 슬라이드 9 참고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820095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53048" y="4023360"/>
            <a:ext cx="518144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3048" y="4160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93128" y="4114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HITL 지점 표시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93128" y="44988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사람을 남길 곳에 ★ + 이유 한 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820095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53048" y="4937760"/>
            <a:ext cx="518144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3048" y="5074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93128" y="5029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ROI 1차 추정 + 공유(선택)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93128" y="5413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15 식 적용 · 1~2팀 60초 공유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820095" y="5074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53048" y="612648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발표는 1~2팀만 공유하고, 나머지는 강의 후 피드백으로 이어갑니다.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WRAP-UP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받는 질문 3가지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148840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비개발자도 이 파이프라인을 운영할 수 있나요?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27432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2715768"/>
            <a:ext cx="102714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운영은 가능합니다. 다만 "왜 이렇게 설계됐는지"를 모르는 상태에서는 사고 대응이 어렵습니다. 운영 전에 30분 내외의 아키텍처 이해 세션이 사실상 필요합니다.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520440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611880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비용이 부담됩니다. 무료 모델로도 가능한가요?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42062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4178808"/>
            <a:ext cx="102714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입문 단계는 무료 티어로 가능합니다. 다만 운영량과 품질 요구가 커질수록 유료 플랜이 예측 가능성과 품질 측면에서 유리한 경우가 많습니다.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983480"/>
            <a:ext cx="1072865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074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5074920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경쟁사도 똑같이 만들면 차별화가 사라지지 않나요?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" y="5669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17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5641848"/>
            <a:ext cx="102714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도구는 같아도 단계 분해·HITL 지점·검수 기준은 조직마다 다릅니다. 진짜 자산은 파이프라인이 아니라 그 안에 녹인 운영 노하우입니다.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54864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WRAP-UP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조직에 가져갈 5가지 체크리스트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201400" y="548640"/>
            <a:ext cx="27432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548640"/>
            <a:ext cx="274320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0" y="594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73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31375" y="6473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5B9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228600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2585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224028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업무 1개를 정확히 정의했다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260604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"콘텐츠 제작"이 아니라 "주 3회 카드뉴스 1편" 수준으로 좁혀라.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2971800"/>
            <a:ext cx="1072865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30358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301752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워크플로의 단계를 그렸다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0" y="338328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도구·소요시간·결과물 포맷까지. 그림이 없으면 자동화 대상도 안 보인다.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" y="3749040"/>
            <a:ext cx="1072865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84048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3813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379476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HITL 지점을 1개 이상 명시했다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28800" y="416052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되돌리기 어려운 결정 / 책임 귀속 / 꼬리 리스크 — 이 셋 중 하나에 사람.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4526280"/>
            <a:ext cx="1072865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45902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28800" y="457200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비용 상한과 운영 책임자를 정했다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828800" y="493776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예산과 책임자가 동시에 비어 있으면, 도입은 가장 쉽게 멈춥니다.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31520" y="5303520"/>
            <a:ext cx="1072865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539496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80160" y="53675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828800" y="534924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191A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모드 1개에 대한 대응 매뉴얼이 있다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828800" y="571500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"AI가 잘못한 결과를 발견했을 때, 누가, 몇 분 안에, 어떻게 멈추는가."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TAKEAWAYS · 오늘 가져갈 세 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이거 세 줄만 기억하세요.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210312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spc="-300" kern="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0"/>
            <a:ext cx="9174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LLM이 아니라 파이프라인이다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2834640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강점에 맞춰 도구를 분리하라.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3200400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모델에 모든 걸 맡기지 마세요. 각 모델이 강한 작업에만 그 모델을 쓰세요.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352044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spc="-300" kern="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2286000" y="3703320"/>
            <a:ext cx="9174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사람을 어디에 남길지 먼저 정한다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4251960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= 사람 자리를 정확히 남기는 일.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4617720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결정의 가역성 · 책임 귀속 · 품질 비대칭 — 이 셋 중 하나에 해당하면 사람을 두세요.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493776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spc="-300" kern="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2286000" y="5120640"/>
            <a:ext cx="9174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ROI는 우변까지 1차 추정해야 진짜다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86000" y="5669280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절감 시간만 보지 말고, API + 운영 + 사고 비용을 함께 보라.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6035040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많은 조직이 절감 시간만 먼저 보고 도입을 결정합니다. 실제 판단에서는 우변이 ROI를 결정합니다.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Curriculum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02575" y="658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· 90 MIN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0728655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072865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spc="-5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pPr indent="0" marL="0">
              <a:buNone/>
            </a:pPr>
            <a:r>
              <a:rPr lang="en-US" sz="13000" b="1" spc="-5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 &amp; </a:t>
            </a:r>
            <a:pPr indent="0" marL="0">
              <a:buNone/>
            </a:pPr>
            <a:r>
              <a:rPr lang="en-US" sz="13000" b="1" spc="-5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pPr indent="0" marL="0">
              <a:buNone/>
            </a:pPr>
            <a:r>
              <a:rPr lang="en-US" sz="13000" b="1" spc="-5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질문, 자유롭게.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8920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강의안 원본(PDF/PPT) · 1페이지 커리큘럼 요약 · 추가 샘플 요청 시 즉시 전달 가능합니다.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5577840"/>
            <a:ext cx="10728655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73775" y="58064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73775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윤상훈 · Sanghoon Yoon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73775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hoon7624g@gmail.com  ·  +82 10 2765 7624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For Codeit · Sample Curriculum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기반 영상·콘텐츠 자동화 파이프라인 설계</dc:title>
  <dc:subject>코드잇 AX 강사 지원 · 샘플 강의안 v3</dc:subject>
  <dc:creator>윤상훈 (Sanghoon Yoon)</dc:creator>
  <cp:lastModifiedBy>윤상훈 (Sanghoon Yoon)</cp:lastModifiedBy>
  <cp:revision>1</cp:revision>
  <dcterms:created xsi:type="dcterms:W3CDTF">2026-04-22T17:13:04Z</dcterms:created>
  <dcterms:modified xsi:type="dcterms:W3CDTF">2026-04-22T17:13:04Z</dcterms:modified>
</cp:coreProperties>
</file>